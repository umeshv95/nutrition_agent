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83" r:id="rId2"/>
    <p:sldId id="257" r:id="rId3"/>
    <p:sldId id="282" r:id="rId4"/>
    <p:sldId id="285" r:id="rId5"/>
    <p:sldId id="278" r:id="rId6"/>
    <p:sldId id="290" r:id="rId7"/>
    <p:sldId id="291" r:id="rId8"/>
    <p:sldId id="292" r:id="rId9"/>
    <p:sldId id="262" r:id="rId10"/>
    <p:sldId id="296" r:id="rId11"/>
    <p:sldId id="300" r:id="rId12"/>
    <p:sldId id="297" r:id="rId13"/>
    <p:sldId id="298" r:id="rId14"/>
    <p:sldId id="299" r:id="rId15"/>
    <p:sldId id="264" r:id="rId16"/>
    <p:sldId id="302" r:id="rId17"/>
    <p:sldId id="287" r:id="rId18"/>
    <p:sldId id="280" r:id="rId19"/>
    <p:sldId id="288" r:id="rId20"/>
    <p:sldId id="293" r:id="rId21"/>
    <p:sldId id="294" r:id="rId22"/>
    <p:sldId id="295" r:id="rId23"/>
    <p:sldId id="276"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a:t>
            </a:r>
            <a:r>
              <a:rPr lang="en-US" sz="6600" b="1" dirty="0" smtClean="0"/>
              <a:t>University Engagement Project Submission </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6939150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err="1" smtClean="0"/>
                        <a:t>Veeramreddy</a:t>
                      </a:r>
                      <a:r>
                        <a:rPr lang="en-US" baseline="0" dirty="0" smtClean="0"/>
                        <a:t> Umesh Reddy</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2200030145cseh@gmail.com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7893829589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dirty="0" smtClean="0">
                <a:highlight>
                  <a:srgbClr val="FFFF00"/>
                </a:highlight>
              </a:rPr>
              <a:t>Health Care</a:t>
            </a:r>
            <a:endParaRPr lang="en-IN" sz="2400"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smtClean="0"/>
              <a:t>Nutrition </a:t>
            </a:r>
            <a:r>
              <a:rPr lang="en-IN" sz="2400" dirty="0"/>
              <a:t>Agent </a:t>
            </a:r>
            <a:endParaRPr lang="en-IN" sz="2400" b="1" dirty="0">
              <a:highlight>
                <a:srgbClr val="FFFF00"/>
              </a:high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8336" y="3661758"/>
            <a:ext cx="1402080" cy="9628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83208"/>
            <a:ext cx="10607040" cy="5909310"/>
          </a:xfrm>
          <a:prstGeom prst="rect">
            <a:avLst/>
          </a:prstGeom>
          <a:noFill/>
        </p:spPr>
        <p:txBody>
          <a:bodyPr wrap="square" rtlCol="0">
            <a:spAutoFit/>
          </a:bodyPr>
          <a:lstStyle/>
          <a:p>
            <a:pPr fontAlgn="base"/>
            <a:r>
              <a:rPr lang="en-US" sz="2000" b="1" dirty="0"/>
              <a:t>Problem Statement : Nutrition Agent</a:t>
            </a:r>
            <a:r>
              <a:rPr lang="en-US" sz="2000" dirty="0"/>
              <a:t> </a:t>
            </a:r>
          </a:p>
          <a:p>
            <a:pPr fontAlgn="base"/>
            <a:endParaRPr lang="en-US" b="1" dirty="0"/>
          </a:p>
          <a:p>
            <a:pPr fontAlgn="base"/>
            <a:r>
              <a:rPr lang="en-US" sz="1800" b="1" dirty="0"/>
              <a:t>The Challenge </a:t>
            </a:r>
            <a:r>
              <a:rPr lang="en-US" dirty="0"/>
              <a:t>- </a:t>
            </a:r>
            <a:r>
              <a:rPr lang="en-US" sz="1600" dirty="0"/>
              <a:t>In an era where health awareness is growing, individuals increasingly seek personalized nutrition guidance. However, most existing tools provide generic diet plans, lack real-time adaptability, and fail to consider a person's holistic lifestyle, cultural preferences, allergies, and evolving health conditions. Furthermore, dieticians and nutritionists face limitations in scaling personalized consultations due to time and resource constraints. Generative AI presents a groundbreaking opportunity to revolutionize this space by enabling an intelligent, interactive, and adaptive virtual nutrition assistant. By leveraging natural language processing (NLP), multimodal understanding, and large-scale dietary databases, an AI-powered assistant can generate dynamic meal plans, recommend smart food swaps, and explain nutritional choices—all tailored to the individual.  </a:t>
            </a:r>
          </a:p>
          <a:p>
            <a:pPr fontAlgn="base"/>
            <a:endParaRPr lang="en-US" sz="1800" dirty="0" smtClean="0"/>
          </a:p>
          <a:p>
            <a:pPr fontAlgn="base"/>
            <a:r>
              <a:rPr lang="en-US" sz="1600" dirty="0"/>
              <a:t>This project aims to develop “</a:t>
            </a:r>
            <a:r>
              <a:rPr lang="en-US" sz="1600" b="1" dirty="0"/>
              <a:t>The Smartest AI Nutrition Assistant</a:t>
            </a:r>
            <a:r>
              <a:rPr lang="en-US" sz="1600" dirty="0"/>
              <a:t>” using state-of-the-art generative AI models that: • Understand user inputs via text, voice, or image (e.g., food photos, grocery labels) • Generate personalized meal plans based on health goals, medical conditions, fitness routines, and preferences • Offer contextual explanations (e.g., “Why is this food better?”) • Adapt suggestions dynamically with continuous feedback </a:t>
            </a:r>
          </a:p>
          <a:p>
            <a:pPr fontAlgn="base"/>
            <a:r>
              <a:rPr lang="en-US" sz="1600" dirty="0"/>
              <a:t>By integrating health data, food databases, and LLM-powered reasoning, the solution will bridge the gap between one-size-fits-all diet apps and in-person nutrition counselling—delivering an AI that thinks, learns, and cares like a real nutrition expert. </a:t>
            </a:r>
          </a:p>
          <a:p>
            <a:endParaRPr lang="en-US" dirty="0" smtClean="0"/>
          </a:p>
          <a:p>
            <a:r>
              <a:rPr lang="en-US" b="1" dirty="0"/>
              <a:t>Technology</a:t>
            </a:r>
            <a:r>
              <a:rPr lang="en-US" dirty="0"/>
              <a:t> - Use of IBM cloud lite services /IBM </a:t>
            </a:r>
            <a:r>
              <a:rPr lang="en-US" dirty="0" err="1"/>
              <a:t>Granity</a:t>
            </a:r>
            <a:r>
              <a:rPr lang="en-US" dirty="0"/>
              <a:t> is mandatory. </a:t>
            </a:r>
            <a:endParaRPr lang="en-US" dirty="0" smtClean="0"/>
          </a:p>
          <a:p>
            <a:endParaRPr lang="en-US" dirty="0"/>
          </a:p>
          <a:p>
            <a:endParaRPr lang="en-US" dirty="0" smtClean="0"/>
          </a:p>
          <a:p>
            <a:endParaRPr lang="en-US" dirty="0" smtClean="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56467"/>
            <a:ext cx="10607040" cy="6032421"/>
          </a:xfrm>
          <a:prstGeom prst="rect">
            <a:avLst/>
          </a:prstGeom>
          <a:noFill/>
        </p:spPr>
        <p:txBody>
          <a:bodyPr wrap="square" rtlCol="0">
            <a:spAutoFit/>
          </a:bodyPr>
          <a:lstStyle/>
          <a:p>
            <a:pPr fontAlgn="base"/>
            <a:endParaRPr lang="en-US" b="1" dirty="0"/>
          </a:p>
          <a:p>
            <a:r>
              <a:rPr lang="en-US" b="1" dirty="0"/>
              <a:t>Proposed Solution: AI-Powered Nutrition </a:t>
            </a:r>
            <a:r>
              <a:rPr lang="en-US" b="1" dirty="0" smtClean="0"/>
              <a:t>Agent</a:t>
            </a:r>
          </a:p>
          <a:p>
            <a:endParaRPr lang="en-US" b="1" dirty="0"/>
          </a:p>
          <a:p>
            <a:r>
              <a:rPr lang="en-US" sz="1600" dirty="0"/>
              <a:t>We propose an </a:t>
            </a:r>
            <a:r>
              <a:rPr lang="en-US" sz="1600" b="1" dirty="0"/>
              <a:t>AI-powered Nutrition Assistant</a:t>
            </a:r>
            <a:r>
              <a:rPr lang="en-US" sz="1600" dirty="0"/>
              <a:t> that helps users understand and manage their daily nutrition in a simple and accessible way. </a:t>
            </a:r>
            <a:r>
              <a:rPr lang="en-US" sz="1600" dirty="0" smtClean="0"/>
              <a:t>Users </a:t>
            </a:r>
            <a:r>
              <a:rPr lang="en-US" sz="1600" dirty="0"/>
              <a:t>can add foods to their daily meal log by specifying serving sizes. The application automatically calculates the total nutritional intake and displays progress toward daily calorie and macronutrient goals. Meal information, goals, and user preferences are stored locally using </a:t>
            </a:r>
            <a:r>
              <a:rPr lang="en-US" sz="1600" b="1" dirty="0"/>
              <a:t>Browser </a:t>
            </a:r>
            <a:r>
              <a:rPr lang="en-US" sz="1600" b="1" dirty="0" err="1"/>
              <a:t>LocalStorage</a:t>
            </a:r>
            <a:r>
              <a:rPr lang="en-US" sz="1600" dirty="0"/>
              <a:t>, so users can use the application without creating an account or requiring a backend database. </a:t>
            </a:r>
            <a:endParaRPr lang="en-US" sz="1600" dirty="0" smtClean="0"/>
          </a:p>
          <a:p>
            <a:endParaRPr lang="en-US" sz="1600" dirty="0"/>
          </a:p>
          <a:p>
            <a:r>
              <a:rPr lang="en-US" sz="1600" dirty="0"/>
              <a:t>The solution also includes an </a:t>
            </a:r>
            <a:r>
              <a:rPr lang="en-US" sz="1600" b="1" dirty="0"/>
              <a:t>AI Nutrition Coach</a:t>
            </a:r>
            <a:r>
              <a:rPr lang="en-US" sz="1600" dirty="0"/>
              <a:t> powered by </a:t>
            </a:r>
            <a:r>
              <a:rPr lang="en-US" sz="1600" b="1" dirty="0"/>
              <a:t>IBM Watson Assistant and IBM Granite LLM</a:t>
            </a:r>
            <a:r>
              <a:rPr lang="en-US" sz="1600" dirty="0"/>
              <a:t>. The AI assistant uses the user's current nutrition information, such as calories, protein, carbohydrates, and fats, to provide personalized and context-aware dietary guidance</a:t>
            </a:r>
            <a:r>
              <a:rPr lang="en-US" sz="1600" dirty="0" smtClean="0"/>
              <a:t>.</a:t>
            </a:r>
          </a:p>
          <a:p>
            <a:endParaRPr lang="en-US" sz="1600" dirty="0"/>
          </a:p>
          <a:p>
            <a:r>
              <a:rPr lang="en-US" sz="1600" b="1" dirty="0" smtClean="0"/>
              <a:t>How </a:t>
            </a:r>
            <a:r>
              <a:rPr lang="en-US" sz="1600" b="1" dirty="0"/>
              <a:t>the Solution Works</a:t>
            </a:r>
          </a:p>
          <a:p>
            <a:r>
              <a:rPr lang="en-US" b="1" dirty="0"/>
              <a:t>Food Search</a:t>
            </a:r>
            <a:r>
              <a:rPr lang="en-US" dirty="0"/>
              <a:t> – The user searches for a food item, and the application retrieves its nutritional information from the Open Food Facts API. </a:t>
            </a:r>
            <a:endParaRPr lang="en-US" dirty="0" smtClean="0"/>
          </a:p>
          <a:p>
            <a:endParaRPr lang="en-US" dirty="0"/>
          </a:p>
          <a:p>
            <a:r>
              <a:rPr lang="en-US" b="1" dirty="0"/>
              <a:t>Meal Logging</a:t>
            </a:r>
            <a:r>
              <a:rPr lang="en-US" dirty="0"/>
              <a:t> – The user selects a food and enters the required serving size. The application calculates the corresponding nutrient values. </a:t>
            </a:r>
            <a:r>
              <a:rPr lang="en-US" dirty="0" smtClean="0"/>
              <a:t> </a:t>
            </a:r>
          </a:p>
          <a:p>
            <a:endParaRPr lang="en-US" dirty="0"/>
          </a:p>
          <a:p>
            <a:r>
              <a:rPr lang="en-US" b="1" dirty="0"/>
              <a:t>Nutrition Analysis</a:t>
            </a:r>
            <a:r>
              <a:rPr lang="en-US" dirty="0"/>
              <a:t> – The application compares the user's intake with their daily goals and provides useful dietary tips. </a:t>
            </a:r>
            <a:endParaRPr lang="en-US" dirty="0" smtClean="0"/>
          </a:p>
          <a:p>
            <a:endParaRPr lang="en-US" dirty="0"/>
          </a:p>
          <a:p>
            <a:r>
              <a:rPr lang="en-US" b="1" dirty="0"/>
              <a:t>AI Nutrition Coach</a:t>
            </a:r>
            <a:r>
              <a:rPr lang="en-US" dirty="0"/>
              <a:t> – The user can interact with the AI assistant for questions related to diet plans, calories, protein, weight management, vitamins, and nutrition. </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pPr marL="285750" indent="-285750">
              <a:buFont typeface="Arial" panose="020B0604020202020204" pitchFamily="34" charset="0"/>
              <a:buChar char="•"/>
            </a:pPr>
            <a:r>
              <a:rPr lang="en-US" sz="1800" b="1" dirty="0" smtClean="0"/>
              <a:t>IBM Bob :</a:t>
            </a:r>
            <a:r>
              <a:rPr lang="en-US" sz="1800" dirty="0"/>
              <a:t>U</a:t>
            </a:r>
            <a:r>
              <a:rPr lang="en-US" sz="1800" dirty="0" smtClean="0"/>
              <a:t>ses </a:t>
            </a:r>
            <a:r>
              <a:rPr lang="en-US" sz="1800" dirty="0"/>
              <a:t>AI technologies, natural language processing (NLP), and software development tools to understand requirements and generate project components.</a:t>
            </a:r>
            <a:endParaRPr lang="en-US" sz="1800" b="1"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IBM Granite </a:t>
            </a:r>
            <a:r>
              <a:rPr lang="en-IN" sz="1800" b="1" dirty="0" smtClean="0"/>
              <a:t>LLM </a:t>
            </a:r>
            <a:r>
              <a:rPr lang="en-US" sz="1800" b="1" dirty="0" smtClean="0"/>
              <a:t>:</a:t>
            </a:r>
            <a:r>
              <a:rPr lang="en-US" sz="1800" dirty="0" smtClean="0"/>
              <a:t> </a:t>
            </a:r>
            <a:r>
              <a:rPr lang="en-US" sz="1800" dirty="0"/>
              <a:t>Used as the base LLM for generating personalized, context-aware nutrition responses through IBM Watson Assistant</a:t>
            </a:r>
            <a:r>
              <a:rPr lang="en-US" sz="1800" dirty="0" smtClean="0"/>
              <a:t>.</a:t>
            </a:r>
          </a:p>
          <a:p>
            <a:endParaRPr lang="en-US" sz="1800" dirty="0"/>
          </a:p>
          <a:p>
            <a:pPr marL="285750" indent="-285750">
              <a:buFont typeface="Arial" panose="020B0604020202020204" pitchFamily="34" charset="0"/>
              <a:buChar char="•"/>
            </a:pPr>
            <a:r>
              <a:rPr lang="en-US" sz="1800" b="1" dirty="0"/>
              <a:t>IBM Cloud :</a:t>
            </a:r>
            <a:r>
              <a:rPr lang="en-US" sz="1800" dirty="0" smtClean="0"/>
              <a:t> </a:t>
            </a:r>
            <a:r>
              <a:rPr lang="en-US" sz="1800" dirty="0"/>
              <a:t>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IBM Watson </a:t>
            </a:r>
            <a:r>
              <a:rPr lang="en-IN" sz="1800" b="1" dirty="0" smtClean="0"/>
              <a:t>Assistant : </a:t>
            </a:r>
            <a:r>
              <a:rPr lang="en-US" sz="1800" dirty="0" smtClean="0"/>
              <a:t>Used </a:t>
            </a:r>
            <a:r>
              <a:rPr lang="en-US" sz="1800" dirty="0"/>
              <a:t>as the conversational AI platform to integrate the </a:t>
            </a:r>
            <a:r>
              <a:rPr lang="en-US" sz="1800" dirty="0" err="1"/>
              <a:t>chatbot</a:t>
            </a:r>
            <a:r>
              <a:rPr lang="en-US" sz="1800" dirty="0"/>
              <a:t> and deliver AI-powered nutrition guidance. </a:t>
            </a:r>
            <a:endParaRPr lang="en-US" sz="1800" b="1"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21277"/>
            <a:ext cx="10515600" cy="601362"/>
          </a:xfrm>
        </p:spPr>
        <p:txBody>
          <a:bodyPr>
            <a:normAutofit/>
          </a:bodyPr>
          <a:lstStyle/>
          <a:p>
            <a:r>
              <a:rPr lang="en-US" sz="2400" dirty="0">
                <a:solidFill>
                  <a:schemeClr val="tx1"/>
                </a:solidFill>
              </a:rPr>
              <a:t>IBM </a:t>
            </a:r>
            <a:r>
              <a:rPr lang="en-US" sz="2400" dirty="0" err="1">
                <a:solidFill>
                  <a:schemeClr val="tx1"/>
                </a:solidFill>
              </a:rPr>
              <a:t>Watsonx</a:t>
            </a:r>
            <a:r>
              <a:rPr lang="en-US" sz="2400" dirty="0">
                <a:solidFill>
                  <a:schemeClr val="tx1"/>
                </a:solidFill>
              </a:rPr>
              <a:t> </a:t>
            </a:r>
            <a:r>
              <a:rPr lang="en-US" sz="2400" dirty="0" smtClean="0">
                <a:solidFill>
                  <a:schemeClr val="tx1"/>
                </a:solidFill>
              </a:rPr>
              <a:t>Assistant Used to create a </a:t>
            </a:r>
            <a:r>
              <a:rPr lang="en-US" sz="2400" dirty="0" err="1" smtClean="0">
                <a:solidFill>
                  <a:schemeClr val="tx1"/>
                </a:solidFill>
              </a:rPr>
              <a:t>Assisant</a:t>
            </a:r>
            <a:endParaRPr lang="en-IN" sz="2400" dirty="0">
              <a:solidFill>
                <a:schemeClr val="tx1"/>
              </a:solidFill>
            </a:endParaRPr>
          </a:p>
        </p:txBody>
      </p:sp>
      <p:pic>
        <p:nvPicPr>
          <p:cNvPr id="4" name="Picture 3"/>
          <p:cNvPicPr>
            <a:picLocks noChangeAspect="1"/>
          </p:cNvPicPr>
          <p:nvPr/>
        </p:nvPicPr>
        <p:blipFill>
          <a:blip r:embed="rId2"/>
          <a:stretch>
            <a:fillRect/>
          </a:stretch>
        </p:blipFill>
        <p:spPr>
          <a:xfrm>
            <a:off x="1307985" y="1135447"/>
            <a:ext cx="8896983" cy="4016881"/>
          </a:xfrm>
          <a:prstGeom prst="rect">
            <a:avLst/>
          </a:prstGeom>
        </p:spPr>
      </p:pic>
    </p:spTree>
    <p:extLst>
      <p:ext uri="{BB962C8B-B14F-4D97-AF65-F5344CB8AC3E}">
        <p14:creationId xmlns:p14="http://schemas.microsoft.com/office/powerpoint/2010/main" val="1974077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0" y="205946"/>
            <a:ext cx="10515600" cy="799070"/>
          </a:xfrm>
        </p:spPr>
        <p:txBody>
          <a:bodyPr/>
          <a:lstStyle/>
          <a:p>
            <a:r>
              <a:rPr lang="en-US" dirty="0" smtClean="0">
                <a:solidFill>
                  <a:schemeClr val="tx1"/>
                </a:solidFill>
              </a:rPr>
              <a:t>The files are the used to create the project in IBM BOB </a:t>
            </a:r>
            <a:endParaRPr lang="en-IN" dirty="0">
              <a:solidFill>
                <a:schemeClr val="tx1"/>
              </a:solidFill>
            </a:endParaRPr>
          </a:p>
        </p:txBody>
      </p:sp>
      <p:pic>
        <p:nvPicPr>
          <p:cNvPr id="5" name="Picture 4"/>
          <p:cNvPicPr>
            <a:picLocks noChangeAspect="1"/>
          </p:cNvPicPr>
          <p:nvPr/>
        </p:nvPicPr>
        <p:blipFill>
          <a:blip r:embed="rId2"/>
          <a:stretch>
            <a:fillRect/>
          </a:stretch>
        </p:blipFill>
        <p:spPr>
          <a:xfrm>
            <a:off x="1845384" y="866116"/>
            <a:ext cx="7175049" cy="2634965"/>
          </a:xfrm>
          <a:prstGeom prst="rect">
            <a:avLst/>
          </a:prstGeom>
        </p:spPr>
      </p:pic>
      <p:pic>
        <p:nvPicPr>
          <p:cNvPr id="6" name="Picture 5"/>
          <p:cNvPicPr>
            <a:picLocks noChangeAspect="1"/>
          </p:cNvPicPr>
          <p:nvPr/>
        </p:nvPicPr>
        <p:blipFill>
          <a:blip r:embed="rId3"/>
          <a:stretch>
            <a:fillRect/>
          </a:stretch>
        </p:blipFill>
        <p:spPr>
          <a:xfrm>
            <a:off x="1845384" y="3628423"/>
            <a:ext cx="7175050" cy="2657047"/>
          </a:xfrm>
          <a:prstGeom prst="rect">
            <a:avLst/>
          </a:prstGeom>
        </p:spPr>
      </p:pic>
    </p:spTree>
    <p:extLst>
      <p:ext uri="{BB962C8B-B14F-4D97-AF65-F5344CB8AC3E}">
        <p14:creationId xmlns:p14="http://schemas.microsoft.com/office/powerpoint/2010/main" val="1521709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86467" y="282603"/>
            <a:ext cx="7818852" cy="2988733"/>
          </a:xfrm>
          <a:prstGeom prst="rect">
            <a:avLst/>
          </a:prstGeom>
        </p:spPr>
      </p:pic>
      <p:pic>
        <p:nvPicPr>
          <p:cNvPr id="5" name="Picture 4"/>
          <p:cNvPicPr>
            <a:picLocks noChangeAspect="1"/>
          </p:cNvPicPr>
          <p:nvPr/>
        </p:nvPicPr>
        <p:blipFill>
          <a:blip r:embed="rId3"/>
          <a:stretch>
            <a:fillRect/>
          </a:stretch>
        </p:blipFill>
        <p:spPr>
          <a:xfrm>
            <a:off x="1786467" y="3469044"/>
            <a:ext cx="7818852" cy="2931756"/>
          </a:xfrm>
          <a:prstGeom prst="rect">
            <a:avLst/>
          </a:prstGeom>
        </p:spPr>
      </p:pic>
    </p:spTree>
    <p:extLst>
      <p:ext uri="{BB962C8B-B14F-4D97-AF65-F5344CB8AC3E}">
        <p14:creationId xmlns:p14="http://schemas.microsoft.com/office/powerpoint/2010/main" val="329897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591" y="771747"/>
            <a:ext cx="10904766" cy="56867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0" y="205946"/>
            <a:ext cx="10515600" cy="766119"/>
          </a:xfrm>
        </p:spPr>
        <p:txBody>
          <a:bodyPr>
            <a:normAutofit fontScale="25000" lnSpcReduction="20000"/>
          </a:bodyPr>
          <a:lstStyle/>
          <a:p>
            <a:r>
              <a:rPr lang="en-US" sz="6200" b="1" dirty="0">
                <a:solidFill>
                  <a:schemeClr val="tx1"/>
                </a:solidFill>
              </a:rPr>
              <a:t>Project outputs:</a:t>
            </a:r>
          </a:p>
          <a:p>
            <a:endParaRPr lang="en-US" dirty="0" smtClean="0">
              <a:solidFill>
                <a:schemeClr val="tx1"/>
              </a:solidFill>
            </a:endParaRPr>
          </a:p>
          <a:p>
            <a:r>
              <a:rPr lang="en-US" sz="5600" dirty="0" smtClean="0">
                <a:solidFill>
                  <a:schemeClr val="tx1"/>
                </a:solidFill>
              </a:rPr>
              <a:t>The Nutrition Agent Project In IBM Bob And Using IBM </a:t>
            </a:r>
            <a:r>
              <a:rPr lang="en-US" sz="5600" dirty="0" err="1" smtClean="0">
                <a:solidFill>
                  <a:schemeClr val="tx1"/>
                </a:solidFill>
              </a:rPr>
              <a:t>Watsonx</a:t>
            </a:r>
            <a:r>
              <a:rPr lang="en-US" sz="5600" dirty="0" smtClean="0">
                <a:solidFill>
                  <a:schemeClr val="tx1"/>
                </a:solidFill>
              </a:rPr>
              <a:t> </a:t>
            </a:r>
            <a:r>
              <a:rPr lang="en-US" sz="5600" dirty="0" err="1" smtClean="0">
                <a:solidFill>
                  <a:schemeClr val="tx1"/>
                </a:solidFill>
              </a:rPr>
              <a:t>Assisant</a:t>
            </a:r>
            <a:endParaRPr lang="en-IN" sz="5600" dirty="0">
              <a:solidFill>
                <a:schemeClr val="tx1"/>
              </a:solidFill>
            </a:endParaRPr>
          </a:p>
        </p:txBody>
      </p:sp>
      <p:pic>
        <p:nvPicPr>
          <p:cNvPr id="4" name="Picture 3"/>
          <p:cNvPicPr>
            <a:picLocks noChangeAspect="1"/>
          </p:cNvPicPr>
          <p:nvPr/>
        </p:nvPicPr>
        <p:blipFill>
          <a:blip r:embed="rId2"/>
          <a:stretch>
            <a:fillRect/>
          </a:stretch>
        </p:blipFill>
        <p:spPr>
          <a:xfrm>
            <a:off x="831850" y="1054444"/>
            <a:ext cx="10104996" cy="4975830"/>
          </a:xfrm>
          <a:prstGeom prst="rect">
            <a:avLst/>
          </a:prstGeom>
        </p:spPr>
      </p:pic>
    </p:spTree>
    <p:extLst>
      <p:ext uri="{BB962C8B-B14F-4D97-AF65-F5344CB8AC3E}">
        <p14:creationId xmlns:p14="http://schemas.microsoft.com/office/powerpoint/2010/main" val="259140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07308" y="411893"/>
            <a:ext cx="10540142" cy="601361"/>
          </a:xfrm>
        </p:spPr>
        <p:txBody>
          <a:bodyPr>
            <a:noAutofit/>
          </a:bodyPr>
          <a:lstStyle/>
          <a:p>
            <a:r>
              <a:rPr lang="en-US" sz="1400" dirty="0" smtClean="0">
                <a:solidFill>
                  <a:schemeClr val="tx1"/>
                </a:solidFill>
              </a:rPr>
              <a:t>Here we can Save goals and we can track</a:t>
            </a:r>
            <a:endParaRPr lang="en-IN" sz="1400" dirty="0">
              <a:solidFill>
                <a:schemeClr val="tx1"/>
              </a:solidFill>
            </a:endParaRPr>
          </a:p>
        </p:txBody>
      </p:sp>
      <p:pic>
        <p:nvPicPr>
          <p:cNvPr id="4" name="Picture 3"/>
          <p:cNvPicPr>
            <a:picLocks noChangeAspect="1"/>
          </p:cNvPicPr>
          <p:nvPr/>
        </p:nvPicPr>
        <p:blipFill>
          <a:blip r:embed="rId2"/>
          <a:stretch>
            <a:fillRect/>
          </a:stretch>
        </p:blipFill>
        <p:spPr>
          <a:xfrm>
            <a:off x="927081" y="1705232"/>
            <a:ext cx="9929720" cy="3912973"/>
          </a:xfrm>
          <a:prstGeom prst="rect">
            <a:avLst/>
          </a:prstGeom>
        </p:spPr>
      </p:pic>
    </p:spTree>
    <p:extLst>
      <p:ext uri="{BB962C8B-B14F-4D97-AF65-F5344CB8AC3E}">
        <p14:creationId xmlns:p14="http://schemas.microsoft.com/office/powerpoint/2010/main" val="4162594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0" y="486033"/>
            <a:ext cx="10515600" cy="609599"/>
          </a:xfrm>
        </p:spPr>
        <p:txBody>
          <a:bodyPr/>
          <a:lstStyle/>
          <a:p>
            <a:r>
              <a:rPr lang="en-US" dirty="0" smtClean="0">
                <a:solidFill>
                  <a:schemeClr val="tx1"/>
                </a:solidFill>
              </a:rPr>
              <a:t>It is the AI Nutrition Coach Implemented in the </a:t>
            </a:r>
            <a:r>
              <a:rPr lang="en-US" dirty="0" err="1" smtClean="0">
                <a:solidFill>
                  <a:schemeClr val="tx1"/>
                </a:solidFill>
              </a:rPr>
              <a:t>Nutrion</a:t>
            </a:r>
            <a:r>
              <a:rPr lang="en-US" dirty="0" smtClean="0">
                <a:solidFill>
                  <a:schemeClr val="tx1"/>
                </a:solidFill>
              </a:rPr>
              <a:t> Agent Project</a:t>
            </a:r>
            <a:endParaRPr lang="en-IN" dirty="0">
              <a:solidFill>
                <a:schemeClr val="tx1"/>
              </a:solidFill>
            </a:endParaRPr>
          </a:p>
        </p:txBody>
      </p:sp>
      <p:pic>
        <p:nvPicPr>
          <p:cNvPr id="5" name="Picture 4"/>
          <p:cNvPicPr>
            <a:picLocks noChangeAspect="1"/>
          </p:cNvPicPr>
          <p:nvPr/>
        </p:nvPicPr>
        <p:blipFill>
          <a:blip r:embed="rId2"/>
          <a:stretch>
            <a:fillRect/>
          </a:stretch>
        </p:blipFill>
        <p:spPr>
          <a:xfrm>
            <a:off x="631207" y="1400433"/>
            <a:ext cx="9891617" cy="3229232"/>
          </a:xfrm>
          <a:prstGeom prst="rect">
            <a:avLst/>
          </a:prstGeom>
        </p:spPr>
      </p:pic>
    </p:spTree>
    <p:extLst>
      <p:ext uri="{BB962C8B-B14F-4D97-AF65-F5344CB8AC3E}">
        <p14:creationId xmlns:p14="http://schemas.microsoft.com/office/powerpoint/2010/main" val="191390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0" y="387179"/>
            <a:ext cx="10515600" cy="650789"/>
          </a:xfrm>
        </p:spPr>
        <p:txBody>
          <a:bodyPr/>
          <a:lstStyle/>
          <a:p>
            <a:r>
              <a:rPr lang="en-US" dirty="0" smtClean="0">
                <a:solidFill>
                  <a:schemeClr val="tx1"/>
                </a:solidFill>
              </a:rPr>
              <a:t>We can add Meal Log and we can track Our Goals </a:t>
            </a:r>
            <a:endParaRPr lang="en-IN" dirty="0">
              <a:solidFill>
                <a:schemeClr val="tx1"/>
              </a:solidFill>
            </a:endParaRPr>
          </a:p>
        </p:txBody>
      </p:sp>
      <p:pic>
        <p:nvPicPr>
          <p:cNvPr id="5" name="Picture 4"/>
          <p:cNvPicPr>
            <a:picLocks noChangeAspect="1"/>
          </p:cNvPicPr>
          <p:nvPr/>
        </p:nvPicPr>
        <p:blipFill>
          <a:blip r:embed="rId2"/>
          <a:stretch>
            <a:fillRect/>
          </a:stretch>
        </p:blipFill>
        <p:spPr>
          <a:xfrm>
            <a:off x="169332" y="1110621"/>
            <a:ext cx="5279931" cy="5027712"/>
          </a:xfrm>
          <a:prstGeom prst="rect">
            <a:avLst/>
          </a:prstGeom>
        </p:spPr>
      </p:pic>
      <p:pic>
        <p:nvPicPr>
          <p:cNvPr id="2" name="Picture 1"/>
          <p:cNvPicPr>
            <a:picLocks noChangeAspect="1"/>
          </p:cNvPicPr>
          <p:nvPr/>
        </p:nvPicPr>
        <p:blipFill>
          <a:blip r:embed="rId3"/>
          <a:stretch>
            <a:fillRect/>
          </a:stretch>
        </p:blipFill>
        <p:spPr>
          <a:xfrm>
            <a:off x="5943600" y="1110619"/>
            <a:ext cx="5585354" cy="5120847"/>
          </a:xfrm>
          <a:prstGeom prst="rect">
            <a:avLst/>
          </a:prstGeom>
        </p:spPr>
      </p:pic>
    </p:spTree>
    <p:extLst>
      <p:ext uri="{BB962C8B-B14F-4D97-AF65-F5344CB8AC3E}">
        <p14:creationId xmlns:p14="http://schemas.microsoft.com/office/powerpoint/2010/main" val="2812139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0" y="263612"/>
            <a:ext cx="10515600" cy="996778"/>
          </a:xfrm>
        </p:spPr>
        <p:txBody>
          <a:bodyPr/>
          <a:lstStyle/>
          <a:p>
            <a:r>
              <a:rPr lang="en-US" dirty="0" smtClean="0">
                <a:solidFill>
                  <a:schemeClr val="tx1"/>
                </a:solidFill>
              </a:rPr>
              <a:t>Implemented the Dark Theme and Light Theme</a:t>
            </a:r>
            <a:endParaRPr lang="en-IN" dirty="0">
              <a:solidFill>
                <a:schemeClr val="tx1"/>
              </a:solidFill>
            </a:endParaRPr>
          </a:p>
        </p:txBody>
      </p:sp>
      <p:pic>
        <p:nvPicPr>
          <p:cNvPr id="4" name="Picture 3"/>
          <p:cNvPicPr>
            <a:picLocks noChangeAspect="1"/>
          </p:cNvPicPr>
          <p:nvPr/>
        </p:nvPicPr>
        <p:blipFill>
          <a:blip r:embed="rId2"/>
          <a:stretch>
            <a:fillRect/>
          </a:stretch>
        </p:blipFill>
        <p:spPr>
          <a:xfrm>
            <a:off x="304799" y="1445739"/>
            <a:ext cx="5156887" cy="4517597"/>
          </a:xfrm>
          <a:prstGeom prst="rect">
            <a:avLst/>
          </a:prstGeom>
        </p:spPr>
      </p:pic>
      <p:pic>
        <p:nvPicPr>
          <p:cNvPr id="5" name="Picture 4"/>
          <p:cNvPicPr>
            <a:picLocks noChangeAspect="1"/>
          </p:cNvPicPr>
          <p:nvPr/>
        </p:nvPicPr>
        <p:blipFill>
          <a:blip r:embed="rId3"/>
          <a:stretch>
            <a:fillRect/>
          </a:stretch>
        </p:blipFill>
        <p:spPr>
          <a:xfrm>
            <a:off x="5997146" y="1474572"/>
            <a:ext cx="5717059" cy="4459933"/>
          </a:xfrm>
          <a:prstGeom prst="rect">
            <a:avLst/>
          </a:prstGeom>
        </p:spPr>
      </p:pic>
    </p:spTree>
    <p:extLst>
      <p:ext uri="{BB962C8B-B14F-4D97-AF65-F5344CB8AC3E}">
        <p14:creationId xmlns:p14="http://schemas.microsoft.com/office/powerpoint/2010/main" val="2181803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292278" y="1167493"/>
            <a:ext cx="7406640" cy="3970318"/>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a:t>
            </a:r>
            <a:r>
              <a:rPr lang="en-US" dirty="0" err="1"/>
              <a:t>chatbot</a:t>
            </a:r>
            <a:r>
              <a:rPr lang="en-US" dirty="0"/>
              <a: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r>
              <a:rPr lang="en-US" dirty="0" smtClean="0"/>
              <a:t>.</a:t>
            </a:r>
          </a:p>
          <a:p>
            <a:r>
              <a:rPr lang="en-US" dirty="0"/>
              <a:t>Overall, Agentic AI connects </a:t>
            </a:r>
            <a:r>
              <a:rPr lang="en-US" b="1" dirty="0"/>
              <a:t>food search, meal logging, nutrition analysis, personalized recommendations, and conversational assistance</a:t>
            </a:r>
            <a:r>
              <a:rPr lang="en-US" dirty="0"/>
              <a:t> into one solution. It helps users make better dietary decisions by providing timely information, monitoring their progress, and offering intelligent nutrition guidance in an easy-to-use application.</a:t>
            </a:r>
          </a:p>
        </p:txBody>
      </p:sp>
      <p:sp>
        <p:nvSpPr>
          <p:cNvPr id="11" name="AutoShape 7" descr="Generated image: Friendly Nutrition Robot Mascot"/>
          <p:cNvSpPr>
            <a:spLocks noChangeAspect="1" noChangeArrowheads="1"/>
          </p:cNvSpPr>
          <p:nvPr/>
        </p:nvSpPr>
        <p:spPr bwMode="auto">
          <a:xfrm>
            <a:off x="155574" y="-144463"/>
            <a:ext cx="4927171" cy="40986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AutoShape 7" descr="Generated image: Friendly Nutrition Robot Mascot"/>
          <p:cNvSpPr>
            <a:spLocks noChangeAspect="1" noChangeArrowheads="1"/>
          </p:cNvSpPr>
          <p:nvPr/>
        </p:nvSpPr>
        <p:spPr bwMode="auto">
          <a:xfrm flipH="1">
            <a:off x="7698917" y="1515762"/>
            <a:ext cx="4015288" cy="442371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p:cNvPicPr>
            <a:picLocks noChangeAspect="1"/>
          </p:cNvPicPr>
          <p:nvPr/>
        </p:nvPicPr>
        <p:blipFill>
          <a:blip r:embed="rId3"/>
          <a:stretch>
            <a:fillRect/>
          </a:stretch>
        </p:blipFill>
        <p:spPr>
          <a:xfrm>
            <a:off x="7718672" y="736062"/>
            <a:ext cx="4473328" cy="44961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1850" y="296563"/>
            <a:ext cx="10515600" cy="1186248"/>
          </a:xfrm>
        </p:spPr>
        <p:txBody>
          <a:bodyPr/>
          <a:lstStyle/>
          <a:p>
            <a:r>
              <a:rPr lang="en-US" dirty="0" smtClean="0">
                <a:solidFill>
                  <a:schemeClr val="tx1"/>
                </a:solidFill>
              </a:rPr>
              <a:t>IBM BOB Points Used Before and After Doing Project</a:t>
            </a:r>
            <a:endParaRPr lang="en-IN" dirty="0">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61" y="1513021"/>
            <a:ext cx="11979678" cy="3848433"/>
          </a:xfrm>
          <a:prstGeom prst="rect">
            <a:avLst/>
          </a:prstGeom>
        </p:spPr>
      </p:pic>
    </p:spTree>
    <p:extLst>
      <p:ext uri="{BB962C8B-B14F-4D97-AF65-F5344CB8AC3E}">
        <p14:creationId xmlns:p14="http://schemas.microsoft.com/office/powerpoint/2010/main" val="3138377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smtClean="0">
                <a:sym typeface="Times New Roman"/>
              </a:rPr>
              <a:t>   			</a:t>
            </a:r>
            <a:r>
              <a:rPr lang="en-US" sz="2400" b="1" u="sng" dirty="0" err="1" smtClean="0">
                <a:sym typeface="Times New Roman"/>
              </a:rPr>
              <a:t>Git</a:t>
            </a:r>
            <a:r>
              <a:rPr lang="en-US" sz="2400" b="1" u="sng" dirty="0" smtClean="0">
                <a:sym typeface="Times New Roman"/>
              </a:rPr>
              <a:t> </a:t>
            </a:r>
            <a:r>
              <a:rPr lang="en-US" sz="2400" b="1" u="sng" dirty="0">
                <a:sym typeface="Times New Roman"/>
              </a:rPr>
              <a:t>Hub Link</a:t>
            </a:r>
            <a:endParaRPr sz="2400" b="1" u="sng"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3262183" y="4047908"/>
            <a:ext cx="4069493" cy="562018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Rectangle 2"/>
          <p:cNvSpPr/>
          <p:nvPr/>
        </p:nvSpPr>
        <p:spPr>
          <a:xfrm>
            <a:off x="2734963" y="1812438"/>
            <a:ext cx="5239116" cy="307777"/>
          </a:xfrm>
          <a:prstGeom prst="rect">
            <a:avLst/>
          </a:prstGeom>
        </p:spPr>
        <p:txBody>
          <a:bodyPr wrap="square">
            <a:spAutoFit/>
          </a:bodyPr>
          <a:lstStyle/>
          <a:p>
            <a:r>
              <a:rPr lang="en-IN" u="sng" dirty="0"/>
              <a:t>https://github.com/umeshv95/Nutrition_Agent</a:t>
            </a:r>
          </a:p>
        </p:txBody>
      </p:sp>
    </p:spTree>
    <p:extLst>
      <p:ext uri="{BB962C8B-B14F-4D97-AF65-F5344CB8AC3E}">
        <p14:creationId xmlns:p14="http://schemas.microsoft.com/office/powerpoint/2010/main" val="260585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3" name="Picture 2"/>
          <p:cNvPicPr>
            <a:picLocks noChangeAspect="1"/>
          </p:cNvPicPr>
          <p:nvPr/>
        </p:nvPicPr>
        <p:blipFill>
          <a:blip r:embed="rId2"/>
          <a:stretch>
            <a:fillRect/>
          </a:stretch>
        </p:blipFill>
        <p:spPr>
          <a:xfrm>
            <a:off x="2399979" y="666510"/>
            <a:ext cx="7392041" cy="552497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07600" y="674131"/>
            <a:ext cx="7376799" cy="5509737"/>
          </a:xfrm>
          <a:prstGeom prst="rect">
            <a:avLst/>
          </a:prstGeom>
        </p:spPr>
      </p:pic>
    </p:spTree>
    <p:extLst>
      <p:ext uri="{BB962C8B-B14F-4D97-AF65-F5344CB8AC3E}">
        <p14:creationId xmlns:p14="http://schemas.microsoft.com/office/powerpoint/2010/main" val="4043902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76186" y="723665"/>
            <a:ext cx="7239627" cy="5410669"/>
          </a:xfrm>
          <a:prstGeom prst="rect">
            <a:avLst/>
          </a:prstGeom>
        </p:spPr>
      </p:pic>
    </p:spTree>
    <p:extLst>
      <p:ext uri="{BB962C8B-B14F-4D97-AF65-F5344CB8AC3E}">
        <p14:creationId xmlns:p14="http://schemas.microsoft.com/office/powerpoint/2010/main" val="1772710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397863" y="552200"/>
            <a:ext cx="9396274" cy="5753599"/>
          </a:xfrm>
          <a:prstGeom prst="rect">
            <a:avLst/>
          </a:prstGeom>
        </p:spPr>
      </p:pic>
    </p:spTree>
    <p:extLst>
      <p:ext uri="{BB962C8B-B14F-4D97-AF65-F5344CB8AC3E}">
        <p14:creationId xmlns:p14="http://schemas.microsoft.com/office/powerpoint/2010/main" val="2318674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1103</Words>
  <Application>Microsoft Office PowerPoint</Application>
  <PresentationFormat>Widescreen</PresentationFormat>
  <Paragraphs>78</Paragraphs>
  <Slides>23</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IBM Watsonx Assistant Used to create a Assisant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23</cp:revision>
  <dcterms:created xsi:type="dcterms:W3CDTF">2025-07-08T05:06:56Z</dcterms:created>
  <dcterms:modified xsi:type="dcterms:W3CDTF">2026-09-11T15:29:35Z</dcterms:modified>
</cp:coreProperties>
</file>